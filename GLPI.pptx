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E4D2265B-7CA3-423A-ABAA-8D60422EF35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FUGERAY" userId="f72d0298-b604-4413-8a2e-e276a9837206" providerId="ADAL" clId="{62FEF335-27FF-4595-BB3E-F0411D0F79EF}"/>
    <pc:docChg chg="modSld">
      <pc:chgData name="Hugo FUGERAY" userId="f72d0298-b604-4413-8a2e-e276a9837206" providerId="ADAL" clId="{62FEF335-27FF-4595-BB3E-F0411D0F79EF}" dt="2026-02-09T12:57:42.316" v="1" actId="113"/>
      <pc:docMkLst>
        <pc:docMk/>
      </pc:docMkLst>
      <pc:sldChg chg="modSp mod">
        <pc:chgData name="Hugo FUGERAY" userId="f72d0298-b604-4413-8a2e-e276a9837206" providerId="ADAL" clId="{62FEF335-27FF-4595-BB3E-F0411D0F79EF}" dt="2026-02-09T12:57:42.316" v="1" actId="113"/>
        <pc:sldMkLst>
          <pc:docMk/>
          <pc:sldMk cId="1754952622" sldId="260"/>
        </pc:sldMkLst>
        <pc:spChg chg="mod">
          <ac:chgData name="Hugo FUGERAY" userId="f72d0298-b604-4413-8a2e-e276a9837206" providerId="ADAL" clId="{62FEF335-27FF-4595-BB3E-F0411D0F79EF}" dt="2026-02-09T12:57:42.316" v="1" actId="113"/>
          <ac:spMkLst>
            <pc:docMk/>
            <pc:sldMk cId="1754952622" sldId="260"/>
            <ac:spMk id="3" creationId="{5AF97756-F5E4-613C-0252-ED661D18F3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702FA-0040-4DE5-86C3-9B4BBD6FF5D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BD40C-DE3A-4E17-B170-D84535856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75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pi-project.org/en/customer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3.1 -&gt; 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standard, facile à héberger et à administrer dans un SI.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3.2 -&gt; Docker permet un POC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rapide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reproductible, et facilite mises à jour/retours arrière (images + volumes)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3.3 -&gt; on peut industrialiser sauvegardes + restauration (PRA) rapidement.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[glpi-project.org]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BD40C-DE3A-4E17-B170-D84535856DE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919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24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59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43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03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33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98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81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05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78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84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030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479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3578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070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568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39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145EB-6A33-477E-9366-DABFCAB5663B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70B067F-5737-4F9D-A84C-2F0BFA155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37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F50B5-061B-4EDA-3028-AD141450D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GLPI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6B425A-48F4-D1F1-9A3F-456052246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Outil Open Source (gratuit) pour </a:t>
            </a:r>
            <a:r>
              <a:rPr lang="fr-FR" dirty="0" err="1"/>
              <a:t>ticketing</a:t>
            </a:r>
            <a:r>
              <a:rPr lang="fr-FR" dirty="0"/>
              <a:t> interne</a:t>
            </a:r>
          </a:p>
        </p:txBody>
      </p:sp>
    </p:spTree>
    <p:extLst>
      <p:ext uri="{BB962C8B-B14F-4D97-AF65-F5344CB8AC3E}">
        <p14:creationId xmlns:p14="http://schemas.microsoft.com/office/powerpoint/2010/main" val="295860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71482-3FB7-B93C-879A-2AE48D58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Brief </a:t>
            </a:r>
            <a:r>
              <a:rPr lang="fr-FR" dirty="0" err="1"/>
              <a:t>Executif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680280-4C05-1F82-1DC3-9650C733F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GLPI est une solution open‑source de </a:t>
            </a:r>
            <a:r>
              <a:rPr lang="fr-FR" dirty="0" err="1"/>
              <a:t>ticketing</a:t>
            </a:r>
            <a:r>
              <a:rPr lang="fr-FR" dirty="0"/>
              <a:t> / service desk et de gestion de parc IT (ITAM), utilisée dans des organisations de tailles très variées. </a:t>
            </a:r>
          </a:p>
          <a:p>
            <a:r>
              <a:rPr lang="fr-FR" dirty="0"/>
              <a:t>Elle permet de centraliser les demandes, structurer leur traitement (statuts, rôles, droits), et piloter l’activité via des indicateurs. </a:t>
            </a:r>
          </a:p>
          <a:p>
            <a:r>
              <a:rPr lang="fr-FR" dirty="0"/>
              <a:t>GLPI est une application web écrite en PHP, distribuée sous licence libre GPL v3, et peut être auto‑hébergée (on‑</a:t>
            </a:r>
            <a:r>
              <a:rPr lang="fr-FR" dirty="0" err="1"/>
              <a:t>premise</a:t>
            </a:r>
            <a:r>
              <a:rPr lang="fr-FR" dirty="0"/>
              <a:t>), ce qui répond généralement aux enjeux de maîtrise des données et de souveraineté</a:t>
            </a:r>
          </a:p>
        </p:txBody>
      </p:sp>
    </p:spTree>
    <p:extLst>
      <p:ext uri="{BB962C8B-B14F-4D97-AF65-F5344CB8AC3E}">
        <p14:creationId xmlns:p14="http://schemas.microsoft.com/office/powerpoint/2010/main" val="235161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E5CCC0-F24B-CE17-14B6-C123C469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1) Pourquoi GLPI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B87AF2-4D80-AE39-3ACA-167D0DDD2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1.1 Une solution éprouvée et largement adoptée</a:t>
            </a:r>
          </a:p>
          <a:p>
            <a:pPr lvl="1"/>
            <a:r>
              <a:rPr lang="fr-FR" dirty="0"/>
              <a:t>Largement utilisé par des communautés et des entreprises (Bouygues, NCR, </a:t>
            </a:r>
            <a:r>
              <a:rPr lang="fr-FR" dirty="0" err="1"/>
              <a:t>Showroomprivé</a:t>
            </a:r>
            <a:r>
              <a:rPr lang="fr-FR" dirty="0"/>
              <a:t>,…). Le site officiel indique une adoption à grande échelle (présence internationale, millions d’utilisateurs)</a:t>
            </a:r>
          </a:p>
          <a:p>
            <a:r>
              <a:rPr lang="fr-FR" b="1" dirty="0"/>
              <a:t>1.2 Open‑source (gratuit) vs services payants (optionnels)</a:t>
            </a:r>
          </a:p>
          <a:p>
            <a:pPr lvl="1"/>
            <a:r>
              <a:rPr lang="fr-FR" dirty="0"/>
              <a:t>GLPI est un logiciel libre GPL v3, donc téléchargeable et utilisable gratuitement en </a:t>
            </a:r>
            <a:r>
              <a:rPr lang="fr-FR" dirty="0" err="1"/>
              <a:t>auto‑hébergement</a:t>
            </a:r>
            <a:r>
              <a:rPr lang="fr-FR" dirty="0"/>
              <a:t>. L’open source le rend même « customisable ».</a:t>
            </a:r>
          </a:p>
          <a:p>
            <a:r>
              <a:rPr lang="fr-FR" b="1" dirty="0"/>
              <a:t>1.3 </a:t>
            </a:r>
            <a:r>
              <a:rPr lang="fr-FR" b="1" dirty="0" err="1"/>
              <a:t>Auto‑hébergement</a:t>
            </a:r>
            <a:r>
              <a:rPr lang="fr-FR" b="1" dirty="0"/>
              <a:t> et maîtrise des données</a:t>
            </a:r>
          </a:p>
          <a:p>
            <a:pPr lvl="1"/>
            <a:r>
              <a:rPr lang="fr-FR" dirty="0"/>
              <a:t>GLPI est une application web multi‑plateforme, auto‑</a:t>
            </a:r>
            <a:r>
              <a:rPr lang="fr-FR" dirty="0" err="1"/>
              <a:t>hébergeable</a:t>
            </a:r>
            <a:r>
              <a:rPr lang="fr-FR" dirty="0"/>
              <a:t> (serveur interne), ce qui facilite l’alignement avec des exigences internes (conformité, confidentialité, cloisonnement). </a:t>
            </a:r>
          </a:p>
        </p:txBody>
      </p:sp>
    </p:spTree>
    <p:extLst>
      <p:ext uri="{BB962C8B-B14F-4D97-AF65-F5344CB8AC3E}">
        <p14:creationId xmlns:p14="http://schemas.microsoft.com/office/powerpoint/2010/main" val="142077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A93AD-41BB-1403-1DBC-1FC08EFD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2) Ce que GLPI couvre fonctionnellement (</a:t>
            </a:r>
            <a:r>
              <a:rPr lang="fr-FR" dirty="0" err="1"/>
              <a:t>ticketing</a:t>
            </a:r>
            <a:r>
              <a:rPr lang="fr-FR" dirty="0"/>
              <a:t> + structuration)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E8426B-73C7-F8F7-CAD3-EB25937E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2.1 Ticketing / Service Desk (</a:t>
            </a:r>
            <a:r>
              <a:rPr lang="en-US" b="1" dirty="0" err="1"/>
              <a:t>cœur</a:t>
            </a:r>
            <a:r>
              <a:rPr lang="en-US" b="1" dirty="0"/>
              <a:t>)</a:t>
            </a:r>
          </a:p>
          <a:p>
            <a:pPr lvl="1"/>
            <a:r>
              <a:rPr lang="fr-FR" dirty="0"/>
              <a:t>GLPI fournit un service desk (incidents, demandes) au sein d’un outil plus large de gestion IT. Il est fréquemment positionné comme alternative open‑source à des outils de </a:t>
            </a:r>
            <a:r>
              <a:rPr lang="fr-FR" dirty="0" err="1"/>
              <a:t>ticketing</a:t>
            </a:r>
            <a:r>
              <a:rPr lang="fr-FR" dirty="0"/>
              <a:t> plus coûteux (exemple Jira).</a:t>
            </a:r>
          </a:p>
          <a:p>
            <a:r>
              <a:rPr lang="fr-FR" b="1" dirty="0"/>
              <a:t>2.2 Gouvernance des accès (profils, droits, onglets)</a:t>
            </a:r>
          </a:p>
          <a:p>
            <a:pPr lvl="1"/>
            <a:r>
              <a:rPr lang="fr-FR" dirty="0"/>
              <a:t>GLPI gère les autorisations via des profils, qui permettent de définir précisément ce que chaque utilisateur peut voir ou faire, et donc cacher/bloquer des modules/onglets en retirant les droits. La documentation rappelle que le profil est la pièce centrale des permissions, et que les menus/sections sont gouvernés par ces droits.</a:t>
            </a:r>
          </a:p>
        </p:txBody>
      </p:sp>
    </p:spTree>
    <p:extLst>
      <p:ext uri="{BB962C8B-B14F-4D97-AF65-F5344CB8AC3E}">
        <p14:creationId xmlns:p14="http://schemas.microsoft.com/office/powerpoint/2010/main" val="190581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1BFDB-7613-6AE5-B138-EB893F60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3) Aspects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F97756-F5E4-613C-0252-ED661D18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3.1 Technologie / Stack</a:t>
            </a:r>
          </a:p>
          <a:p>
            <a:pPr lvl="1"/>
            <a:r>
              <a:rPr lang="fr-FR" dirty="0"/>
              <a:t>GLPI est écrit en PHP et fonctionne comme une application web. Il s’appuie sur un socle serveur classique (web + base de données).</a:t>
            </a:r>
          </a:p>
          <a:p>
            <a:r>
              <a:rPr lang="fr-FR" b="1" dirty="0"/>
              <a:t>3.2 Déploiement Docker (POC rapide)</a:t>
            </a:r>
          </a:p>
          <a:p>
            <a:pPr marL="457200" lvl="1" indent="0">
              <a:buNone/>
            </a:pPr>
            <a:r>
              <a:rPr lang="fr-FR" dirty="0"/>
              <a:t>- Le conteneur exécute l’application,</a:t>
            </a:r>
          </a:p>
          <a:p>
            <a:pPr marL="457200" lvl="1" indent="0">
              <a:buNone/>
            </a:pPr>
            <a:r>
              <a:rPr lang="fr-FR" dirty="0"/>
              <a:t>- Les données doivent être persistées hors conteneur (volumes),</a:t>
            </a:r>
          </a:p>
          <a:p>
            <a:pPr marL="457200" lvl="1" indent="0">
              <a:buNone/>
            </a:pPr>
            <a:r>
              <a:rPr lang="fr-FR" dirty="0"/>
              <a:t>- La base est initialisée via variables d’environnement et persiste via volume.</a:t>
            </a:r>
          </a:p>
          <a:p>
            <a:r>
              <a:rPr lang="fr-FR" b="1" dirty="0"/>
              <a:t>3.3 Récupération/sauvegarde des données</a:t>
            </a:r>
          </a:p>
          <a:p>
            <a:pPr lvl="1">
              <a:buFontTx/>
              <a:buChar char="-"/>
            </a:pPr>
            <a:r>
              <a:rPr lang="fr-FR" dirty="0"/>
              <a:t>dump SQL régulier de la base,</a:t>
            </a:r>
          </a:p>
          <a:p>
            <a:pPr lvl="1">
              <a:buFontTx/>
              <a:buChar char="-"/>
            </a:pPr>
            <a:r>
              <a:rPr lang="fr-FR" dirty="0"/>
              <a:t>archive des fichiers (documents / pièces jointes),</a:t>
            </a:r>
          </a:p>
          <a:p>
            <a:pPr lvl="1">
              <a:buFontTx/>
              <a:buChar char="-"/>
            </a:pPr>
            <a:r>
              <a:rPr lang="fr-FR" dirty="0"/>
              <a:t>et/ou sauvegarde des volumes.</a:t>
            </a:r>
          </a:p>
        </p:txBody>
      </p:sp>
    </p:spTree>
    <p:extLst>
      <p:ext uri="{BB962C8B-B14F-4D97-AF65-F5344CB8AC3E}">
        <p14:creationId xmlns:p14="http://schemas.microsoft.com/office/powerpoint/2010/main" val="175495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BD0BEE-4578-4910-D3BE-C1CDE357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Proposition de plan (POC → décision → déploiement) : Phase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3E175-841B-9967-C238-4328322D9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Phase 1 — POC (1 à 2 semaines)</a:t>
            </a:r>
            <a:endParaRPr lang="fr-FR" dirty="0"/>
          </a:p>
          <a:p>
            <a:pPr lvl="1"/>
            <a:r>
              <a:rPr lang="fr-FR" dirty="0"/>
              <a:t>Objectif : valider l’adéquation au besoin entreprise.</a:t>
            </a:r>
          </a:p>
          <a:p>
            <a:pPr lvl="1">
              <a:buFontTx/>
              <a:buChar char="-"/>
            </a:pPr>
            <a:r>
              <a:rPr lang="fr-FR" dirty="0"/>
              <a:t>Déploiement Docker en environnement de test</a:t>
            </a:r>
          </a:p>
          <a:p>
            <a:pPr lvl="1">
              <a:buFontTx/>
              <a:buChar char="-"/>
            </a:pPr>
            <a:r>
              <a:rPr lang="fr-FR" dirty="0"/>
              <a:t>Création de 2–3 profils (Demandeur / Technicien / Manager)</a:t>
            </a:r>
          </a:p>
          <a:p>
            <a:pPr lvl="1">
              <a:buFontTx/>
              <a:buChar char="-"/>
            </a:pPr>
            <a:r>
              <a:rPr lang="fr-FR" dirty="0"/>
              <a:t>Mise en place du cycle ticket minimal (création → traitement → clôture)</a:t>
            </a:r>
          </a:p>
          <a:p>
            <a:pPr lvl="1">
              <a:buFontTx/>
              <a:buChar char="-"/>
            </a:pPr>
            <a:r>
              <a:rPr lang="fr-FR" dirty="0"/>
              <a:t>Test de notifications &amp; pièces jointes</a:t>
            </a:r>
          </a:p>
          <a:p>
            <a:pPr lvl="1">
              <a:buFontTx/>
              <a:buChar char="-"/>
            </a:pPr>
            <a:r>
              <a:rPr lang="fr-FR" dirty="0"/>
              <a:t>Recueil feedback utilisateurs</a:t>
            </a:r>
          </a:p>
          <a:p>
            <a:pPr marL="457200" lvl="1" indent="0">
              <a:buNone/>
            </a:pPr>
            <a:r>
              <a:rPr lang="fr-FR" dirty="0"/>
              <a:t>Appui sur la logique profils/autorisations officielle.</a:t>
            </a:r>
          </a:p>
        </p:txBody>
      </p:sp>
    </p:spTree>
    <p:extLst>
      <p:ext uri="{BB962C8B-B14F-4D97-AF65-F5344CB8AC3E}">
        <p14:creationId xmlns:p14="http://schemas.microsoft.com/office/powerpoint/2010/main" val="410608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3240-16BA-0D1F-ED62-E970C05D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A68E8D-5079-8C36-DAB4-563822E2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Proposition de plan (POC → décision → déploiement) : Phase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54C30-D20C-FFFF-0381-0E27874C2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Phase 2 — Pilote (2 à 6 semaines)</a:t>
            </a:r>
          </a:p>
          <a:p>
            <a:pPr lvl="1">
              <a:buFontTx/>
              <a:buChar char="-"/>
            </a:pPr>
            <a:r>
              <a:rPr lang="fr-FR" dirty="0"/>
              <a:t>Paramétrage des catégories / files / SLA si nécessaire</a:t>
            </a:r>
          </a:p>
          <a:p>
            <a:pPr lvl="1">
              <a:buFontTx/>
              <a:buChar char="-"/>
            </a:pPr>
            <a:r>
              <a:rPr lang="fr-FR" dirty="0"/>
              <a:t>Définition gouvernance (qui administre quoi)</a:t>
            </a:r>
          </a:p>
          <a:p>
            <a:pPr lvl="1">
              <a:buFontTx/>
              <a:buChar char="-"/>
            </a:pPr>
            <a:r>
              <a:rPr lang="fr-FR" dirty="0"/>
              <a:t>Sauvegardes automatisées + supervision</a:t>
            </a:r>
          </a:p>
          <a:p>
            <a:pPr lvl="1">
              <a:buFontTx/>
              <a:buChar char="-"/>
            </a:pPr>
            <a:r>
              <a:rPr lang="fr-FR" dirty="0"/>
              <a:t>Documentation courte pour utilisateurs</a:t>
            </a:r>
          </a:p>
          <a:p>
            <a:pPr marL="457200" lvl="1" indent="0">
              <a:buNone/>
            </a:pPr>
            <a:r>
              <a:rPr lang="fr-FR" dirty="0"/>
              <a:t>S’appuyer sur les ressources “Install &amp; Update” et l’exploitation.</a:t>
            </a:r>
          </a:p>
        </p:txBody>
      </p:sp>
    </p:spTree>
    <p:extLst>
      <p:ext uri="{BB962C8B-B14F-4D97-AF65-F5344CB8AC3E}">
        <p14:creationId xmlns:p14="http://schemas.microsoft.com/office/powerpoint/2010/main" val="75468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D0F6-C75A-E4A9-FE20-D60F5D2E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A783A-7788-C518-3CA4-86F701BA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4) Proposition de plan (POC → décision → déploiement) : Phase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EF39BB-7BE4-D8C4-9E0B-DB7483BD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Phase 3 — Prod</a:t>
            </a:r>
            <a:endParaRPr lang="fr-FR" dirty="0"/>
          </a:p>
          <a:p>
            <a:pPr lvl="1">
              <a:buFontTx/>
              <a:buChar char="-"/>
            </a:pPr>
            <a:r>
              <a:rPr lang="fr-FR" dirty="0"/>
              <a:t>SSO/annuaire (si souhaité)</a:t>
            </a:r>
          </a:p>
          <a:p>
            <a:pPr lvl="1">
              <a:buFontTx/>
              <a:buChar char="-"/>
            </a:pPr>
            <a:r>
              <a:rPr lang="fr-FR" dirty="0"/>
              <a:t>Industrialisation (HA/PRA selon criticité)</a:t>
            </a:r>
          </a:p>
          <a:p>
            <a:pPr lvl="1">
              <a:buFontTx/>
              <a:buChar char="-"/>
            </a:pPr>
            <a:r>
              <a:rPr lang="fr-FR" dirty="0"/>
              <a:t>Extension plugins (si besoin)</a:t>
            </a:r>
          </a:p>
        </p:txBody>
      </p:sp>
    </p:spTree>
    <p:extLst>
      <p:ext uri="{BB962C8B-B14F-4D97-AF65-F5344CB8AC3E}">
        <p14:creationId xmlns:p14="http://schemas.microsoft.com/office/powerpoint/2010/main" val="11970323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699</Words>
  <Application>Microsoft Office PowerPoint</Application>
  <PresentationFormat>Grand écran</PresentationFormat>
  <Paragraphs>55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 3</vt:lpstr>
      <vt:lpstr>Facette</vt:lpstr>
      <vt:lpstr>GLPI</vt:lpstr>
      <vt:lpstr>Brief Executif</vt:lpstr>
      <vt:lpstr>1) Pourquoi GLPI ?</vt:lpstr>
      <vt:lpstr>2) Ce que GLPI couvre fonctionnellement (ticketing + structuration)</vt:lpstr>
      <vt:lpstr>3) Aspects techniques</vt:lpstr>
      <vt:lpstr>4) Proposition de plan (POC → décision → déploiement) : Phase 1</vt:lpstr>
      <vt:lpstr>4) Proposition de plan (POC → décision → déploiement) : Phase 2</vt:lpstr>
      <vt:lpstr>4) Proposition de plan (POC → décision → déploiement) : Phase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FUGERAY</dc:creator>
  <cp:lastModifiedBy>Hugo FUGERAY</cp:lastModifiedBy>
  <cp:revision>1</cp:revision>
  <dcterms:created xsi:type="dcterms:W3CDTF">2026-02-09T11:10:21Z</dcterms:created>
  <dcterms:modified xsi:type="dcterms:W3CDTF">2026-02-09T12:57:46Z</dcterms:modified>
</cp:coreProperties>
</file>